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</p:sldMasterIdLst>
  <p:sldIdLst>
    <p:sldId id="258" r:id="rId2"/>
    <p:sldId id="259" r:id="rId3"/>
    <p:sldId id="264" r:id="rId4"/>
    <p:sldId id="269" r:id="rId5"/>
    <p:sldId id="270" r:id="rId6"/>
    <p:sldId id="271" r:id="rId7"/>
    <p:sldId id="272" r:id="rId8"/>
    <p:sldId id="278" r:id="rId9"/>
    <p:sldId id="273" r:id="rId10"/>
    <p:sldId id="275" r:id="rId11"/>
    <p:sldId id="277" r:id="rId12"/>
    <p:sldId id="27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A147"/>
    <a:srgbClr val="B54C2D"/>
    <a:srgbClr val="B66952"/>
    <a:srgbClr val="B56D45"/>
    <a:srgbClr val="DF98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2525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865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86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17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887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4888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16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479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378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4665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2055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80594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836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069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302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158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527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8027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3" r:id="rId1"/>
    <p:sldLayoutId id="2147483715" r:id="rId2"/>
    <p:sldLayoutId id="2147483716" r:id="rId3"/>
    <p:sldLayoutId id="2147483714" r:id="rId4"/>
    <p:sldLayoutId id="2147483710" r:id="rId5"/>
    <p:sldLayoutId id="2147483694" r:id="rId6"/>
    <p:sldLayoutId id="2147483695" r:id="rId7"/>
    <p:sldLayoutId id="2147483696" r:id="rId8"/>
    <p:sldLayoutId id="2147483697" r:id="rId9"/>
    <p:sldLayoutId id="2147483699" r:id="rId10"/>
    <p:sldLayoutId id="2147483693" r:id="rId11"/>
    <p:sldLayoutId id="2147483700" r:id="rId12"/>
    <p:sldLayoutId id="2147483701" r:id="rId13"/>
    <p:sldLayoutId id="2147483703" r:id="rId14"/>
    <p:sldLayoutId id="2147483704" r:id="rId15"/>
    <p:sldLayoutId id="2147483702" r:id="rId16"/>
    <p:sldLayoutId id="214748369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A748D-BEEC-43A4-BFF3-B31C0275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</p:spPr>
        <p:txBody>
          <a:bodyPr>
            <a:noAutofit/>
          </a:bodyPr>
          <a:lstStyle/>
          <a:p>
            <a:r>
              <a:rPr lang="en-US" sz="4500" b="1" i="1" dirty="0"/>
              <a:t>Project Name:  Lumous Eye</a:t>
            </a:r>
            <a:br>
              <a:rPr lang="en-US" sz="4500" b="1" i="1" dirty="0"/>
            </a:br>
            <a:endParaRPr lang="en-US" sz="4500" b="1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8A15CC-B56B-D264-C626-0566FCF34A82}"/>
              </a:ext>
            </a:extLst>
          </p:cNvPr>
          <p:cNvSpPr/>
          <p:nvPr/>
        </p:nvSpPr>
        <p:spPr>
          <a:xfrm>
            <a:off x="6003634" y="2967335"/>
            <a:ext cx="1847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352DD7-446B-717B-7D20-2308D15FC46E}"/>
              </a:ext>
            </a:extLst>
          </p:cNvPr>
          <p:cNvSpPr/>
          <p:nvPr/>
        </p:nvSpPr>
        <p:spPr>
          <a:xfrm>
            <a:off x="2248062" y="1519348"/>
            <a:ext cx="751114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Smart Energy-Saving Street Lighting System</a:t>
            </a:r>
            <a:endParaRPr lang="en-US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26" name="Picture 2" descr="AUTOMATIC STREET LIGHT – blog">
            <a:extLst>
              <a:ext uri="{FF2B5EF4-FFF2-40B4-BE49-F238E27FC236}">
                <a16:creationId xmlns:a16="http://schemas.microsoft.com/office/drawing/2014/main" id="{E829981E-B586-03BD-5A7B-5271DB6127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3535" y="2188611"/>
            <a:ext cx="6509657" cy="3661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089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FB9DA-58E6-4A11-3E99-DFA51E522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64F37-4FA4-4C5A-2954-89A1E6B35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93" y="1497953"/>
            <a:ext cx="10353762" cy="1257300"/>
          </a:xfrm>
        </p:spPr>
        <p:txBody>
          <a:bodyPr>
            <a:noAutofit/>
          </a:bodyPr>
          <a:lstStyle/>
          <a:p>
            <a:pPr algn="l"/>
            <a:r>
              <a:rPr lang="en-US" sz="3600" b="1" dirty="0"/>
              <a:t>Why Do We Need Intelligent Street Lighting?</a:t>
            </a:r>
            <a:br>
              <a:rPr lang="en-US" sz="3600" b="1" dirty="0"/>
            </a:br>
            <a:br>
              <a:rPr lang="en-US" sz="3600" b="1" dirty="0"/>
            </a:br>
            <a:br>
              <a:rPr lang="en-US" sz="3600" b="1" dirty="0"/>
            </a:br>
            <a:br>
              <a:rPr lang="en-US" sz="1800" b="1" dirty="0"/>
            </a:br>
            <a:r>
              <a:rPr lang="en-US" sz="1800" b="1" dirty="0"/>
              <a:t>1. </a:t>
            </a:r>
            <a:r>
              <a:rPr lang="en-US" sz="2800" dirty="0"/>
              <a:t>Traditional streetlights stay ON all night → </a:t>
            </a:r>
            <a:r>
              <a:rPr lang="en-US" sz="2800" b="1" dirty="0"/>
              <a:t>Huge energy waste</a:t>
            </a:r>
            <a:br>
              <a:rPr lang="en-US" sz="2800" dirty="0"/>
            </a:br>
            <a:r>
              <a:rPr lang="en-US" sz="2800" dirty="0"/>
              <a:t>2. No response to </a:t>
            </a:r>
            <a:r>
              <a:rPr lang="en-US" sz="2800" b="1" dirty="0"/>
              <a:t>motion</a:t>
            </a:r>
            <a:r>
              <a:rPr lang="en-US" sz="2800" dirty="0"/>
              <a:t>, </a:t>
            </a:r>
            <a:r>
              <a:rPr lang="en-US" sz="2800" b="1" dirty="0"/>
              <a:t>weather</a:t>
            </a:r>
            <a:r>
              <a:rPr lang="en-US" sz="2800" dirty="0"/>
              <a:t>, or </a:t>
            </a:r>
            <a:r>
              <a:rPr lang="en-US" sz="2800" b="1" dirty="0"/>
              <a:t>visibility</a:t>
            </a:r>
            <a:br>
              <a:rPr lang="en-US" sz="2800" dirty="0"/>
            </a:br>
            <a:r>
              <a:rPr lang="en-US" sz="2800" dirty="0"/>
              <a:t>3. Poor lighting in fog, winter, or rainy conditions</a:t>
            </a:r>
            <a:br>
              <a:rPr lang="en-US" sz="2800" dirty="0"/>
            </a:br>
            <a:r>
              <a:rPr lang="en-US" sz="2800" dirty="0"/>
              <a:t>4. High electricity cost for municipalities</a:t>
            </a:r>
            <a:br>
              <a:rPr lang="en-US" sz="2800" dirty="0"/>
            </a:br>
            <a:r>
              <a:rPr lang="en-US" sz="2800" dirty="0"/>
              <a:t>5. No adaptive brightness → unsafe for pedestrians &amp; vehicles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65099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1D26B-0EA8-A3FB-9A01-9044A2516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DDCAB1F-B191-C23C-7FC2-FE018CF5F711}"/>
              </a:ext>
            </a:extLst>
          </p:cNvPr>
          <p:cNvSpPr/>
          <p:nvPr/>
        </p:nvSpPr>
        <p:spPr>
          <a:xfrm>
            <a:off x="3922048" y="214805"/>
            <a:ext cx="3974678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4400" dirty="0"/>
              <a:t>Project Objective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CEAD95-59BA-17E3-348E-5AFF439F4E87}"/>
              </a:ext>
            </a:extLst>
          </p:cNvPr>
          <p:cNvSpPr/>
          <p:nvPr/>
        </p:nvSpPr>
        <p:spPr>
          <a:xfrm>
            <a:off x="1182750" y="1519535"/>
            <a:ext cx="8073364" cy="280076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u="sng" dirty="0"/>
              <a:t>The Aim of Lumous Eye: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/>
              <a:t>Reduce energy consumption by </a:t>
            </a:r>
            <a:r>
              <a:rPr lang="en-US" sz="2800" b="1" dirty="0"/>
              <a:t>80–90%</a:t>
            </a:r>
            <a:endParaRPr lang="en-US" sz="2800" dirty="0"/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/>
              <a:t> Automatically adjust lighting based on environment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/>
              <a:t>Provide lighting </a:t>
            </a:r>
            <a:r>
              <a:rPr lang="en-US" sz="2800" b="1" dirty="0"/>
              <a:t>only when required</a:t>
            </a:r>
            <a:endParaRPr lang="en-US" sz="2800" dirty="0"/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/>
              <a:t>Improve safety on highways &amp; streets</a:t>
            </a:r>
          </a:p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/>
              <a:t>Low-cost IoT-based solution usable at scale</a:t>
            </a:r>
          </a:p>
        </p:txBody>
      </p:sp>
    </p:spTree>
    <p:extLst>
      <p:ext uri="{BB962C8B-B14F-4D97-AF65-F5344CB8AC3E}">
        <p14:creationId xmlns:p14="http://schemas.microsoft.com/office/powerpoint/2010/main" val="4002538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5623F-DCC5-3E29-D45E-8D36A50F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9282D9-4B86-120C-9B4D-6CE87DD0F8A1}"/>
              </a:ext>
            </a:extLst>
          </p:cNvPr>
          <p:cNvSpPr/>
          <p:nvPr/>
        </p:nvSpPr>
        <p:spPr>
          <a:xfrm>
            <a:off x="3924741" y="214805"/>
            <a:ext cx="3969293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4400" dirty="0"/>
              <a:t>System Overview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A96899-B6AD-2F36-1CF0-15C6EAB3B274}"/>
              </a:ext>
            </a:extLst>
          </p:cNvPr>
          <p:cNvSpPr/>
          <p:nvPr/>
        </p:nvSpPr>
        <p:spPr>
          <a:xfrm>
            <a:off x="2405060" y="1790123"/>
            <a:ext cx="6618415" cy="304698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IN" sz="2800" b="1" dirty="0"/>
              <a:t>A Fully Automated Smart Lighting Solution</a:t>
            </a:r>
          </a:p>
          <a:p>
            <a:r>
              <a:rPr lang="en-IN" sz="2800" dirty="0"/>
              <a:t>Lumous Eye uses: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000" b="1" dirty="0"/>
              <a:t>LDR</a:t>
            </a:r>
            <a:r>
              <a:rPr lang="en-IN" sz="2000" dirty="0"/>
              <a:t> → Night detection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000" b="1" dirty="0"/>
              <a:t>PIR/IR Sensors</a:t>
            </a:r>
            <a:r>
              <a:rPr lang="en-IN" sz="2000" dirty="0"/>
              <a:t> → Motion detection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000" b="1" dirty="0"/>
              <a:t>DHT11</a:t>
            </a:r>
            <a:r>
              <a:rPr lang="en-IN" sz="2000" dirty="0"/>
              <a:t> → Temperature + Humidity monitoring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000" b="1" dirty="0"/>
              <a:t>Timer Logic </a:t>
            </a:r>
            <a:r>
              <a:rPr lang="en-IN" sz="2000" dirty="0"/>
              <a:t>→ 5-second hold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IN" sz="2000" b="1" dirty="0"/>
              <a:t>Arduino (x2)</a:t>
            </a:r>
            <a:r>
              <a:rPr lang="en-IN" sz="2000" dirty="0"/>
              <a:t> → Master–Slave control</a:t>
            </a:r>
          </a:p>
          <a:p>
            <a:r>
              <a:rPr lang="en-IN" sz="2000" dirty="0"/>
              <a:t>The system adapts instantly to motion and weather</a:t>
            </a:r>
            <a:r>
              <a:rPr lang="en-IN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90586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A7367-86D4-3A42-C3E7-BC869D69A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6E1AE79-FFB9-28D5-4D6C-62A96D2AB26D}"/>
              </a:ext>
            </a:extLst>
          </p:cNvPr>
          <p:cNvSpPr/>
          <p:nvPr/>
        </p:nvSpPr>
        <p:spPr>
          <a:xfrm>
            <a:off x="4026836" y="429409"/>
            <a:ext cx="298133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4400" dirty="0"/>
              <a:t>Key Features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4807B86-A49A-F796-AB02-F4825B704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1505397"/>
            <a:ext cx="7016620" cy="3847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🌙</a:t>
            </a:r>
            <a:r>
              <a:rPr lang="en-US" altLang="en-US" sz="2000" b="1" dirty="0">
                <a:latin typeface="Arial" panose="020B0604020202020204" pitchFamily="34" charset="0"/>
              </a:rPr>
              <a:t>Night-Only Mode</a:t>
            </a:r>
            <a:r>
              <a:rPr lang="en-US" altLang="en-US" sz="2000" dirty="0">
                <a:latin typeface="Arial" panose="020B0604020202020204" pitchFamily="34" charset="0"/>
              </a:rPr>
              <a:t> (LDR based)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🚶 </a:t>
            </a:r>
            <a:r>
              <a:rPr lang="en-US" altLang="en-US" sz="2000" b="1" dirty="0">
                <a:latin typeface="Arial" panose="020B0604020202020204" pitchFamily="34" charset="0"/>
              </a:rPr>
              <a:t>Motion-Driven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Streetlights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⏱️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5-second Intelligent Delay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🌫️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Fog / Rain / Winter Safety Mode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⚡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Energy Efficiency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🔧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Low-Cost &amp; Scalable Architecture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623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ECDD0-F6E0-FE92-4D85-23CA35DBD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66B2203-4D17-3F16-0C8E-95572B401608}"/>
              </a:ext>
            </a:extLst>
          </p:cNvPr>
          <p:cNvSpPr/>
          <p:nvPr/>
        </p:nvSpPr>
        <p:spPr>
          <a:xfrm>
            <a:off x="3259463" y="214805"/>
            <a:ext cx="52998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4400" dirty="0"/>
              <a:t>Hardware Architecture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3E7D0B-71CB-67D0-E8F2-62419DAF445E}"/>
              </a:ext>
            </a:extLst>
          </p:cNvPr>
          <p:cNvSpPr/>
          <p:nvPr/>
        </p:nvSpPr>
        <p:spPr>
          <a:xfrm>
            <a:off x="1611958" y="1416899"/>
            <a:ext cx="7634679" cy="501675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b="1" dirty="0"/>
              <a:t>Master Arduino</a:t>
            </a:r>
          </a:p>
          <a:p>
            <a:pPr algn="ctr"/>
            <a:r>
              <a:rPr lang="en-IN" sz="2000" dirty="0"/>
              <a:t>Reads LDR (Day/Night)</a:t>
            </a:r>
          </a:p>
          <a:p>
            <a:pPr algn="ctr"/>
            <a:r>
              <a:rPr lang="en-IN" sz="2000" dirty="0"/>
              <a:t>Reads DHT11 (Temp + Humidity)</a:t>
            </a:r>
          </a:p>
          <a:p>
            <a:pPr algn="ctr"/>
            <a:r>
              <a:rPr lang="en-IN" sz="2000" dirty="0"/>
              <a:t>Sends environmental status → Slave</a:t>
            </a:r>
          </a:p>
          <a:p>
            <a:pPr algn="ctr"/>
            <a:endParaRPr lang="en-IN" sz="2000" dirty="0"/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b="1" dirty="0"/>
              <a:t>Slave Arduino</a:t>
            </a:r>
          </a:p>
          <a:p>
            <a:pPr algn="ctr"/>
            <a:r>
              <a:rPr lang="en-IN" sz="2000" dirty="0"/>
              <a:t>Reads PIR/IR sensors (3 lights)</a:t>
            </a:r>
          </a:p>
          <a:p>
            <a:pPr algn="ctr"/>
            <a:r>
              <a:rPr lang="en-IN" sz="2000" dirty="0"/>
              <a:t>Controls 4 street lamps</a:t>
            </a:r>
          </a:p>
          <a:p>
            <a:pPr algn="ctr"/>
            <a:r>
              <a:rPr lang="en-IN" sz="2000" dirty="0"/>
              <a:t>Implements 5-second delay logic</a:t>
            </a:r>
          </a:p>
          <a:p>
            <a:pPr algn="ctr"/>
            <a:endParaRPr lang="en-IN" sz="2000" dirty="0"/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IN" sz="2400" b="1" dirty="0"/>
              <a:t>Communication</a:t>
            </a:r>
          </a:p>
          <a:p>
            <a:pPr algn="ctr"/>
            <a:r>
              <a:rPr lang="en-IN" sz="2000" dirty="0"/>
              <a:t>Digital pins OR serial between Arduinos</a:t>
            </a:r>
          </a:p>
          <a:p>
            <a:pPr algn="ctr"/>
            <a:r>
              <a:rPr lang="en-IN" sz="2000" dirty="0"/>
              <a:t>Common ground for system stability</a:t>
            </a:r>
          </a:p>
          <a:p>
            <a:endParaRPr lang="en-US" sz="3600" b="1" i="1" u="sng" dirty="0"/>
          </a:p>
        </p:txBody>
      </p:sp>
    </p:spTree>
    <p:extLst>
      <p:ext uri="{BB962C8B-B14F-4D97-AF65-F5344CB8AC3E}">
        <p14:creationId xmlns:p14="http://schemas.microsoft.com/office/powerpoint/2010/main" val="1566098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D718E-766D-EC26-47BB-0587E9831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01247D9-E584-F602-901C-D1280B474672}"/>
              </a:ext>
            </a:extLst>
          </p:cNvPr>
          <p:cNvSpPr/>
          <p:nvPr/>
        </p:nvSpPr>
        <p:spPr>
          <a:xfrm>
            <a:off x="4140018" y="153249"/>
            <a:ext cx="2946640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</a:t>
            </a:r>
            <a:r>
              <a:rPr lang="en-IN" sz="4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ork flow </a:t>
            </a:r>
            <a:endParaRPr lang="en-US" sz="4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E8AB09-22BD-4132-BECB-BAFDA8E534D9}"/>
              </a:ext>
            </a:extLst>
          </p:cNvPr>
          <p:cNvSpPr/>
          <p:nvPr/>
        </p:nvSpPr>
        <p:spPr>
          <a:xfrm>
            <a:off x="3424301" y="949329"/>
            <a:ext cx="4247445" cy="523220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b="1" dirty="0"/>
              <a:t>Step-by-Step Operation:</a:t>
            </a:r>
          </a:p>
          <a:p>
            <a:pPr algn="ctr"/>
            <a:r>
              <a:rPr lang="en-IN" b="1" dirty="0"/>
              <a:t>1️⃣ LDR — Day/Night Detection</a:t>
            </a:r>
          </a:p>
          <a:p>
            <a:pPr algn="ctr"/>
            <a:r>
              <a:rPr lang="en-IN" dirty="0"/>
              <a:t>Day → Lights OFF</a:t>
            </a:r>
          </a:p>
          <a:p>
            <a:pPr algn="ctr"/>
            <a:r>
              <a:rPr lang="en-IN" dirty="0"/>
              <a:t>Night → System activated</a:t>
            </a:r>
          </a:p>
          <a:p>
            <a:pPr algn="ctr"/>
            <a:endParaRPr lang="en-IN" dirty="0"/>
          </a:p>
          <a:p>
            <a:pPr algn="ctr"/>
            <a:r>
              <a:rPr lang="en-IN" b="1" dirty="0"/>
              <a:t>2️⃣ PIR/IR Motion Detection</a:t>
            </a:r>
          </a:p>
          <a:p>
            <a:pPr algn="ctr"/>
            <a:r>
              <a:rPr lang="en-IN" dirty="0"/>
              <a:t>Detects vehicle/pedestrian</a:t>
            </a:r>
          </a:p>
          <a:p>
            <a:pPr algn="ctr"/>
            <a:r>
              <a:rPr lang="en-IN" dirty="0"/>
              <a:t>Sends HIGH to controller</a:t>
            </a:r>
          </a:p>
          <a:p>
            <a:pPr algn="ctr"/>
            <a:endParaRPr lang="en-IN" dirty="0"/>
          </a:p>
          <a:p>
            <a:pPr algn="ctr"/>
            <a:r>
              <a:rPr lang="en-IN" b="1" dirty="0"/>
              <a:t>3️⃣ 5-Second Intelligent Delay</a:t>
            </a:r>
          </a:p>
          <a:p>
            <a:pPr algn="ctr"/>
            <a:r>
              <a:rPr lang="en-IN" dirty="0"/>
              <a:t>Light stays ON for 5 seconds</a:t>
            </a:r>
          </a:p>
          <a:p>
            <a:pPr algn="ctr"/>
            <a:r>
              <a:rPr lang="en-IN" dirty="0"/>
              <a:t>Prevents flickering when people move fast</a:t>
            </a:r>
          </a:p>
          <a:p>
            <a:pPr algn="ctr"/>
            <a:endParaRPr lang="en-IN" dirty="0"/>
          </a:p>
          <a:p>
            <a:pPr algn="ctr"/>
            <a:r>
              <a:rPr lang="en-IN" b="1" dirty="0"/>
              <a:t>4️⃣ Weather-Based Safety Mode</a:t>
            </a:r>
          </a:p>
          <a:p>
            <a:pPr algn="ctr"/>
            <a:r>
              <a:rPr lang="en-IN" dirty="0"/>
              <a:t>Triggers dim light when:</a:t>
            </a:r>
          </a:p>
          <a:p>
            <a:pPr algn="ctr"/>
            <a:r>
              <a:rPr lang="en-IN" dirty="0"/>
              <a:t>Temperature &lt; </a:t>
            </a:r>
            <a:r>
              <a:rPr lang="en-IN" b="1" dirty="0"/>
              <a:t>20°C</a:t>
            </a:r>
            <a:r>
              <a:rPr lang="en-IN" dirty="0"/>
              <a:t> (winter)</a:t>
            </a:r>
          </a:p>
          <a:p>
            <a:pPr algn="ctr"/>
            <a:r>
              <a:rPr lang="en-IN" dirty="0"/>
              <a:t>Humidity high (fog/rain)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561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4B956-C1FF-16BB-6F67-0CFFAE48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90AD95-6148-1FFE-B101-2EEFE42A8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2325" y="447869"/>
            <a:ext cx="4068147" cy="61022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80878F-82FB-666E-5C69-FB8433E59DD6}"/>
              </a:ext>
            </a:extLst>
          </p:cNvPr>
          <p:cNvSpPr/>
          <p:nvPr/>
        </p:nvSpPr>
        <p:spPr>
          <a:xfrm flipH="1">
            <a:off x="4525345" y="4338936"/>
            <a:ext cx="475862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4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&lt;20</a:t>
            </a:r>
            <a:endParaRPr lang="en-US" sz="1400" b="0" cap="none" spc="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6255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9551-B7F9-8EB4-83A7-18F4D1C20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62EE00B-14FB-041F-C448-2704D48452C9}"/>
              </a:ext>
            </a:extLst>
          </p:cNvPr>
          <p:cNvSpPr/>
          <p:nvPr/>
        </p:nvSpPr>
        <p:spPr>
          <a:xfrm>
            <a:off x="3556018" y="214805"/>
            <a:ext cx="4706738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4400" dirty="0"/>
              <a:t>What We Achieved: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BC8286C-8F11-DA7C-62B0-AB15EA685B51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511559" y="1649685"/>
            <a:ext cx="8291804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80–90% reduction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power usage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light ON during day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Smooth ON/OFF lighting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Enhanced visibility in fog/rain/winter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Reliable multi-light control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Highly scalable and cheap to deploy</a:t>
            </a:r>
          </a:p>
        </p:txBody>
      </p:sp>
    </p:spTree>
    <p:extLst>
      <p:ext uri="{BB962C8B-B14F-4D97-AF65-F5344CB8AC3E}">
        <p14:creationId xmlns:p14="http://schemas.microsoft.com/office/powerpoint/2010/main" val="1853649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8E0B7-A07A-B9B9-B83C-2D3CFA33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EF6804B-EC74-AB1E-5916-069934EF9E11}"/>
              </a:ext>
            </a:extLst>
          </p:cNvPr>
          <p:cNvSpPr/>
          <p:nvPr/>
        </p:nvSpPr>
        <p:spPr>
          <a:xfrm>
            <a:off x="3390104" y="214805"/>
            <a:ext cx="503856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4400" dirty="0"/>
              <a:t>Future Improvements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B010070-7AF3-C2EE-D3BB-B948A89B11F5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511559" y="1618907"/>
            <a:ext cx="8291804" cy="2369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800" b="1" i="1" dirty="0"/>
              <a:t>Next Possible Upgrades: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Solar-powered version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Cloud connectivity (IoT dashboard)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ML-based vehicle speed estimation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Emergency flashing mode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Automatic brightness/traffic-level scaling</a:t>
            </a:r>
          </a:p>
        </p:txBody>
      </p:sp>
    </p:spTree>
    <p:extLst>
      <p:ext uri="{BB962C8B-B14F-4D97-AF65-F5344CB8AC3E}">
        <p14:creationId xmlns:p14="http://schemas.microsoft.com/office/powerpoint/2010/main" val="1667314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A20FF-C0B1-0260-A24B-C1A02BCD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7E1AC2A-194E-BDA9-A776-5796B317896A}"/>
              </a:ext>
            </a:extLst>
          </p:cNvPr>
          <p:cNvSpPr/>
          <p:nvPr/>
        </p:nvSpPr>
        <p:spPr>
          <a:xfrm>
            <a:off x="4000852" y="214805"/>
            <a:ext cx="381707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Important links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911660-9240-67C6-A2F3-5D78A5224D70}"/>
              </a:ext>
            </a:extLst>
          </p:cNvPr>
          <p:cNvSpPr/>
          <p:nvPr/>
        </p:nvSpPr>
        <p:spPr>
          <a:xfrm>
            <a:off x="1004673" y="1712173"/>
            <a:ext cx="1004153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GitHub </a:t>
            </a:r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link:   </a:t>
            </a:r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https://github.com/Komalsingh7/Lumous_EyeGroupNo_9.git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1912-5FD7-D583-8D91-ADD4B9517C6A}"/>
              </a:ext>
            </a:extLst>
          </p:cNvPr>
          <p:cNvSpPr txBox="1"/>
          <p:nvPr/>
        </p:nvSpPr>
        <p:spPr>
          <a:xfrm>
            <a:off x="1004673" y="2516546"/>
            <a:ext cx="60975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Video link</a:t>
            </a:r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  </a:t>
            </a:r>
            <a:r>
              <a:rPr lang="en-IN" sz="2400" dirty="0"/>
              <a:t>https://youtu.be/1hxaNWZarEw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1860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E397B-2474-82FB-E72E-347E3E70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68E77C6-50A1-19C0-E669-965604F4529C}"/>
              </a:ext>
            </a:extLst>
          </p:cNvPr>
          <p:cNvSpPr/>
          <p:nvPr/>
        </p:nvSpPr>
        <p:spPr>
          <a:xfrm>
            <a:off x="4078592" y="214805"/>
            <a:ext cx="3661580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Team Members</a:t>
            </a:r>
          </a:p>
          <a:p>
            <a:pPr algn="ctr"/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2215405-B16B-5688-2C33-035E60E8574C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511559" y="172358"/>
            <a:ext cx="8291804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1.Dona Banerjee (20233123)</a:t>
            </a:r>
          </a:p>
          <a:p>
            <a:r>
              <a:rPr lang="en-US" sz="2400" dirty="0"/>
              <a:t>2.Venkata Kavya Sri Gurram(20233133)</a:t>
            </a:r>
          </a:p>
          <a:p>
            <a:r>
              <a:rPr lang="en-US" sz="2400" dirty="0"/>
              <a:t>3.Heeramani Gowthami(20233143)</a:t>
            </a:r>
          </a:p>
          <a:p>
            <a:r>
              <a:rPr lang="en-US" sz="2400" dirty="0"/>
              <a:t>4.Jyotsana Verma(20233153)</a:t>
            </a:r>
          </a:p>
          <a:p>
            <a:r>
              <a:rPr lang="en-US" sz="2400" dirty="0"/>
              <a:t>5.Jyoti Meena(20233152)</a:t>
            </a:r>
          </a:p>
          <a:p>
            <a:r>
              <a:rPr lang="en-US" sz="2400" dirty="0"/>
              <a:t>6.Kesiya Wilson(20233528)</a:t>
            </a:r>
          </a:p>
          <a:p>
            <a:r>
              <a:rPr lang="en-US" sz="2400" dirty="0"/>
              <a:t>7.Khushi Chandra(20233340)</a:t>
            </a:r>
          </a:p>
          <a:p>
            <a:r>
              <a:rPr lang="en-US" sz="2400" dirty="0"/>
              <a:t>8.Khushi Choudhary(20233162)</a:t>
            </a:r>
          </a:p>
          <a:p>
            <a:r>
              <a:rPr lang="en-US" sz="2400" dirty="0"/>
              <a:t>9.Kirti Srivastava(20233163)</a:t>
            </a:r>
          </a:p>
          <a:p>
            <a:r>
              <a:rPr lang="en-US" sz="2400" dirty="0"/>
              <a:t>10.Komal Singh(20233164)</a:t>
            </a:r>
          </a:p>
          <a:p>
            <a:r>
              <a:rPr lang="en-US" sz="2400" dirty="0"/>
              <a:t>11.Kratika Srivas(20233167)</a:t>
            </a:r>
          </a:p>
        </p:txBody>
      </p:sp>
    </p:spTree>
    <p:extLst>
      <p:ext uri="{BB962C8B-B14F-4D97-AF65-F5344CB8AC3E}">
        <p14:creationId xmlns:p14="http://schemas.microsoft.com/office/powerpoint/2010/main" val="1956417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offee">
      <a:dk1>
        <a:sysClr val="windowText" lastClr="000000"/>
      </a:dk1>
      <a:lt1>
        <a:sysClr val="window" lastClr="FFFFFF"/>
      </a:lt1>
      <a:dk2>
        <a:srgbClr val="4E3B30"/>
      </a:dk2>
      <a:lt2>
        <a:srgbClr val="F4EEDC"/>
      </a:lt2>
      <a:accent1>
        <a:srgbClr val="CC830E"/>
      </a:accent1>
      <a:accent2>
        <a:srgbClr val="B54C2D"/>
      </a:accent2>
      <a:accent3>
        <a:srgbClr val="99570C"/>
      </a:accent3>
      <a:accent4>
        <a:srgbClr val="C17529"/>
      </a:accent4>
      <a:accent5>
        <a:srgbClr val="A19574"/>
      </a:accent5>
      <a:accent6>
        <a:srgbClr val="A49518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REE.pptx" id="{E781C72B-3D65-4B8D-9071-33B66AF0EF30}" vid="{3A5A58F2-9BE1-435C-B12D-88FD9BF701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{20806166-D644-4496-9879-812ADF85A326}tf12214701_win32</Template>
  <TotalTime>96</TotalTime>
  <Words>508</Words>
  <Application>Microsoft Office PowerPoint</Application>
  <PresentationFormat>Widescreen</PresentationFormat>
  <Paragraphs>96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Goudy Old Style</vt:lpstr>
      <vt:lpstr>Wingdings</vt:lpstr>
      <vt:lpstr>Wingdings 2</vt:lpstr>
      <vt:lpstr>SlateVTI</vt:lpstr>
      <vt:lpstr>Project Name:  Lumous Eye </vt:lpstr>
      <vt:lpstr>Why Do We Need Intelligent Street Lighting?    1. Traditional streetlights stay ON all night → Huge energy waste 2. No response to motion, weather, or visibility 3. Poor lighting in fog, winter, or rainy conditions 4. High electricity cost for municipalities 5. No adaptive brightness → unsafe for pedestrians &amp; vehicles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Komal Singh</dc:creator>
  <cp:lastModifiedBy>Komal Singh</cp:lastModifiedBy>
  <cp:revision>2</cp:revision>
  <dcterms:created xsi:type="dcterms:W3CDTF">2025-11-17T17:06:06Z</dcterms:created>
  <dcterms:modified xsi:type="dcterms:W3CDTF">2025-11-17T18:42:10Z</dcterms:modified>
</cp:coreProperties>
</file>